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EE41FD-720F-436E-9831-AB71BA6AF535}">
  <a:tblStyle styleId="{19EE41FD-720F-436E-9831-AB71BA6AF53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1262cb19f_0_2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1262cb19f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1262cb19f_0_2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1262cb19f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1262cb19f_0_2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1262cb19f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1262cb19f_0_2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1262cb19f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1262cb19f_0_2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1262cb19f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1262cb19f_0_3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1262cb19f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1262cb19f_0_3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1262cb19f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1262cb19f_0_3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1262cb19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Самые рисковые сегменты: </a:t>
            </a:r>
            <a:r>
              <a:rPr b="1" lang="ru">
                <a:solidFill>
                  <a:schemeClr val="dk1"/>
                </a:solidFill>
              </a:rPr>
              <a:t>кластеры 0/3/6</a:t>
            </a:r>
            <a:r>
              <a:rPr lang="ru">
                <a:solidFill>
                  <a:schemeClr val="dk1"/>
                </a:solidFill>
              </a:rPr>
              <a:t> (высокий churn ≈ 58–60%) → основной приоритет для удержания.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“Ядро” лояльных: </a:t>
            </a:r>
            <a:r>
              <a:rPr b="1" lang="ru">
                <a:solidFill>
                  <a:schemeClr val="dk1"/>
                </a:solidFill>
              </a:rPr>
              <a:t>кластер 2</a:t>
            </a:r>
            <a:r>
              <a:rPr lang="ru">
                <a:solidFill>
                  <a:schemeClr val="dk1"/>
                </a:solidFill>
              </a:rPr>
              <a:t> (низкий churn ≈ 21%) → важно удерживать и расширять ценность.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Общая гипотеза UX: у churn-группы чуть выше “назад/блуждание” → нужны быстрые маршруты и упрощение навигации.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1262cb19f_0_3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1262cb19f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ru.wiktionary.org/wiki/%D0%B8%20%D1%88%D0%B2%D0%B5%D1%86%2C%20%D0%B8%20%D0%B6%D0%BD%D0%B5%D1%86%2C%20%D0%B8%20%D0%BD%D0%B0%20%D0%B4%D1%83%D0%B4%D0%B5%20%D0%B8%D0%B3%D1%80%D0%B5%D1%86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115225"/>
            <a:ext cx="50175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00"/>
              <a:t>Анализ поведения пользователей и прогноз оттока в мобильном приложении ЖКХ</a:t>
            </a:r>
            <a:endParaRPr sz="28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11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№17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Феде Василий Васильевич - капитан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FFFFFF"/>
                </a:solidFill>
                <a:highlight>
                  <a:srgbClr val="222224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И швец, и жнец, и на дуде игрец</a:t>
            </a:r>
            <a:endParaRPr sz="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Контекст продукта и цель</a:t>
            </a:r>
            <a:endParaRPr/>
          </a:p>
        </p:txBody>
      </p:sp>
      <p:grpSp>
        <p:nvGrpSpPr>
          <p:cNvPr id="141" name="Google Shape;141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42" name="Google Shape;142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4"/>
          <p:cNvSpPr txBox="1"/>
          <p:nvPr>
            <p:ph idx="4294967295" type="body"/>
          </p:nvPr>
        </p:nvSpPr>
        <p:spPr>
          <a:xfrm>
            <a:off x="508325" y="1483675"/>
            <a:ext cx="81327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Приложение: платежи, заявки, собрания, новости/чат, взаимодействие с УК</a:t>
            </a:r>
            <a:br>
              <a:rPr lang="ru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Цель: выявить паттерны поведения, сегменты пользователей, прогнозировать отток пользователей ( активность более 30 дней -&gt; churn_30d)</a:t>
            </a:r>
            <a:br>
              <a:rPr lang="ru" sz="1600"/>
            </a:b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Фокус проекта: EDA + сегментация + churn-модель (без NLP)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5142725" y="3660356"/>
            <a:ext cx="3408399" cy="1089225"/>
          </a:xfrm>
          <a:prstGeom prst="rect">
            <a:avLst/>
          </a:prstGeom>
          <a:noFill/>
          <a:ln>
            <a:noFill/>
          </a:ln>
          <a:effectLst>
            <a:outerShdw blurRad="814388" rotWithShape="0" algn="bl" dir="11400000" dist="647700">
              <a:srgbClr val="000000">
                <a:alpha val="23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Данные + Preprocessing</a:t>
            </a:r>
            <a:endParaRPr/>
          </a:p>
        </p:txBody>
      </p:sp>
      <p:sp>
        <p:nvSpPr>
          <p:cNvPr id="151" name="Google Shape;151;p15"/>
          <p:cNvSpPr txBox="1"/>
          <p:nvPr>
            <p:ph idx="4294967295" type="body"/>
          </p:nvPr>
        </p:nvSpPr>
        <p:spPr>
          <a:xfrm>
            <a:off x="404700" y="1441775"/>
            <a:ext cx="38463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событий: 6.27 млн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устройств: 179 976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период: 2025-09-01 — 2025-10-31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ОС: Android ~62%, iOS ~38%</a:t>
            </a:r>
            <a:endParaRPr b="1" sz="11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Единица пользователя: устройство (user_id нет)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>
                <a:latin typeface="Roboto Mono"/>
                <a:ea typeface="Roboto Mono"/>
                <a:cs typeface="Roboto Mono"/>
                <a:sym typeface="Roboto Mono"/>
              </a:rPr>
              <a:t>churn</a:t>
            </a:r>
            <a:r>
              <a:rPr lang="ru" sz="1100"/>
              <a:t> &gt; 30 дней</a:t>
            </a:r>
            <a:endParaRPr sz="1600"/>
          </a:p>
        </p:txBody>
      </p:sp>
      <p:sp>
        <p:nvSpPr>
          <p:cNvPr id="152" name="Google Shape;152;p15"/>
          <p:cNvSpPr txBox="1"/>
          <p:nvPr>
            <p:ph idx="4294967295" type="body"/>
          </p:nvPr>
        </p:nvSpPr>
        <p:spPr>
          <a:xfrm>
            <a:off x="4490100" y="1441775"/>
            <a:ext cx="3846300" cy="15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Парсинг времени, создание </a:t>
            </a:r>
            <a:r>
              <a:rPr lang="ru" sz="1100">
                <a:latin typeface="Roboto Mono"/>
                <a:ea typeface="Roboto Mono"/>
                <a:cs typeface="Roboto Mono"/>
                <a:sym typeface="Roboto Mono"/>
              </a:rPr>
              <a:t>date/hour/weekday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>
                <a:latin typeface="Roboto Mono"/>
                <a:ea typeface="Roboto Mono"/>
                <a:cs typeface="Roboto Mono"/>
                <a:sym typeface="Roboto Mono"/>
              </a:rPr>
              <a:t>session_id</a:t>
            </a:r>
            <a:r>
              <a:rPr lang="ru" sz="1100">
                <a:latin typeface="Arial"/>
                <a:ea typeface="Arial"/>
                <a:cs typeface="Arial"/>
                <a:sym typeface="Arial"/>
              </a:rPr>
              <a:t> = device_id + session_number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>
                <a:latin typeface="Arial"/>
                <a:ea typeface="Arial"/>
                <a:cs typeface="Arial"/>
                <a:sym typeface="Arial"/>
              </a:rPr>
              <a:t>Категории → </a:t>
            </a:r>
            <a:r>
              <a:rPr lang="ru" sz="1100"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Работа с пропусками: “Действие” ~52% (не для всех событий фиксируется)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Активность по дням, часам и по неделе</a:t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50" y="935425"/>
            <a:ext cx="3399949" cy="224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6917" y="921600"/>
            <a:ext cx="3406382" cy="224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9350" y="3251300"/>
            <a:ext cx="5363949" cy="18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102925" y="3251300"/>
            <a:ext cx="3325200" cy="18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Видны пики/спады активности по датам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Возможные причины: платежные циклы, сезонность, внешние события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Пик активности в дневные/вечерние часы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В выходные событий меньше, чем в будни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Продуктовые разделы + User-level 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5275" y="4105425"/>
            <a:ext cx="38091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“Ещё” — главный хаб навигации (самая большая доля)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“Новая заявка / Заявки / Мой дом …” — ключевые сценарии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950" y="1017800"/>
            <a:ext cx="2943225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5525" y="1017800"/>
            <a:ext cx="4090524" cy="270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4264750" y="4105425"/>
            <a:ext cx="4548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Сильная неоднородность: много пользователей с малым числом событий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Небольшой сегмент “power users” генерирует много действий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Это мотивирует сегментацию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Churn definition + базовые различия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241200" y="4278250"/>
            <a:ext cx="79434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У ушедших ниже активность/сессии/разнообразие (в среднем)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725" y="1139488"/>
            <a:ext cx="27813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63" y="1996249"/>
            <a:ext cx="2962692" cy="1956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0671" y="1996249"/>
            <a:ext cx="2962674" cy="1956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3354" y="1996249"/>
            <a:ext cx="2962692" cy="19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9300" y="1144263"/>
            <a:ext cx="371475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Customer Journey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261950" y="4077775"/>
            <a:ext cx="79434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“Ещё” — центр маршрутов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Частые сценарии: “Ещё → Новая заявка / Заявки …”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Гипотеза: часть пользователей “блуждает” (доля “назад” выше у churn)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00" y="1460250"/>
            <a:ext cx="4155497" cy="24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Кластеризация: метод и выбор</a:t>
            </a:r>
            <a:endParaRPr/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450" y="1055050"/>
            <a:ext cx="2714325" cy="196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450" y="3015203"/>
            <a:ext cx="2714317" cy="2009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8276" y="900275"/>
            <a:ext cx="3364799" cy="25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4105725" y="3413125"/>
            <a:ext cx="4837500" cy="16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Фичи: активность, интенсивность, разнообразие + доли screen_*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Preprocessing: log1p + scaler + PCA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KMeans выбран как основной: интерпретируемые сегменты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Сегменты различимы в сжатом пространстве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Дальше анализируем профили и churn по кластерам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98" name="Google Shape;198;p20"/>
          <p:cNvCxnSpPr>
            <a:endCxn id="196" idx="1"/>
          </p:cNvCxnSpPr>
          <p:nvPr/>
        </p:nvCxnSpPr>
        <p:spPr>
          <a:xfrm flipH="1" rot="10800000">
            <a:off x="3808576" y="2156700"/>
            <a:ext cx="1769700" cy="84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Профили кластеров + churn rate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297000" y="3951725"/>
            <a:ext cx="855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Кластеры 0/3/6: высокий churn (~58–60%) → “одноразовые/краткосрочные сценарии”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Кластер 2: низкий churn (~21%) → “power users”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Кластер 4: “рутнные” → средний churn (~31%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50" y="1499100"/>
            <a:ext cx="3800925" cy="2038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3200" y="1216075"/>
            <a:ext cx="3906000" cy="24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Churn-модель + пороги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52400" y="3543825"/>
            <a:ext cx="85500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CatBoost: ROC-AUC ~0.71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Порог 0.5 не оптимален → best-F1 порог улучшает F1 и recall</a:t>
            </a:r>
            <a:b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Сегментные пороги полезны для анализа, но не дают лучшего F1, чем global best-F1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839199" cy="109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Рекомендации</a:t>
            </a:r>
            <a:endParaRPr/>
          </a:p>
        </p:txBody>
      </p:sp>
      <p:graphicFrame>
        <p:nvGraphicFramePr>
          <p:cNvPr id="219" name="Google Shape;219;p23"/>
          <p:cNvGraphicFramePr/>
          <p:nvPr/>
        </p:nvGraphicFramePr>
        <p:xfrm>
          <a:off x="33325" y="10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{19EE41FD-720F-436E-9831-AB71BA6AF535}</a:tableStyleId>
              </a:tblPr>
              <a:tblGrid>
                <a:gridCol w="1230825"/>
                <a:gridCol w="1526050"/>
                <a:gridCol w="3101000"/>
                <a:gridCol w="1600200"/>
                <a:gridCol w="1619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Сегмент (кластеры)</a:t>
                      </a:r>
                      <a:endParaRPr b="1"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Сигнал/проблема</a:t>
                      </a:r>
                      <a:endParaRPr b="1"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Что сделать в продукте</a:t>
                      </a:r>
                      <a:endParaRPr b="1"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Коммуникации</a:t>
                      </a:r>
                      <a:endParaRPr b="1"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Как измерить эффект</a:t>
                      </a:r>
                      <a:endParaRPr b="1"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Высокий риск: 0 / 3 / 6</a:t>
                      </a: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(“одноразовые / краткосрочные”)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1–2 дня активности, мало экранов/функций, высокий churn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1) Ускорить “первую ценность”: быстрые кнопки </a:t>
                      </a: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«Создать заявку» / «Мои платежи» / «Мой дом»</a:t>
                      </a: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на главном экране и в “Ещё” 2) Onboarding: 2–3 подсказки по ключевым сценариям 3) Упростить меню “Ещё”: избранное/поиск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Триггерная цепочка после 1-го визита: D+1 и D+3 (подсказка + “что полезно”)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Retention D7/D30, конверсия в ключевой сценарий (заявка/платёж), снижение доли “назад”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Кластер 1</a:t>
                      </a: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(“исследователи”)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Много функционалов за короткое время, но churn высокий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“Guided tour” по 1–2 сценариям (например, </a:t>
                      </a: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заявка → статус → уведомления</a:t>
                      </a: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 + блок “Рекомендовано” по действиям пользователя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Push/ин-app: “Продолжить сценарий” + подсказки по статусам/уведомлениям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Рост доли пользователей, завершивших сценарий; Retention D30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Кластер 4</a:t>
                      </a: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(“рутинные”)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Долго живут, регулярно заходят, но используют узкий набор функций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1) “Быстрые действия” и виджеты (платёж/показания/статус заявки) 2) Персональные ярлыки (избранные разделы)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Напоминания по регулярным действиям (аккуратно, без спама)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Частота визитов, конверсия в регулярные действия, снижение churn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Кластер 2</a:t>
                      </a: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(“power users”, ядро)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Много сессий/функций, низкий churn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1) Продвинутая персонализация: настройки уведомлений, избранное 2) Программа лояльности/баллы 3) Ранний доступ к новым функциям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Персональные подборки фич/функций, опрос “что улучшить”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Retention D30/D60, NPS/оценки, удержание ядра</a:t>
                      </a:r>
                      <a:endParaRPr sz="10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Discussion / Next steps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255575" y="1367800"/>
            <a:ext cx="85500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Блок 1 — Data enrichment 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Yandex Weather API</a:t>
            </a: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добавить погодные фичи (осадки/снег/температура/ветер) по дням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Проверить корреляции “погода ↔ заявки/обращения/всплески активности”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Использовать погоду как объяснение пиков и как фичу для прогнозов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Блок 2 — Modeling 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Последовательности действий (HMM / LSTM / Transformer)</a:t>
            </a: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не только агрегаты, а “как пользователь ходит по экраном” → лучше ловит сценарии ухода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GMM (Gaussian Mixture Models)</a:t>
            </a: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дас вероятности принадлежности к сегментам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Spectral clustering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SVM</a:t>
            </a: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— можно использовать </a:t>
            </a: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после кластеризации</a:t>
            </a: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чтобы быстро назначать кластер новым пользователям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Блок 3 — Product validation </a:t>
            </a:r>
            <a:endParaRPr b="1"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A/B-тестировать рекомендации для high-risk сегментов (0/3/6): онбординг, быстрые маршруты, избранное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</a:pPr>
            <a:r>
              <a:rPr lang="ru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Метрики: Retention D7/D30, конверсия в ключевые сценарии, снижение “назад/блужданий”, доля решённых заявок/успешных платежей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