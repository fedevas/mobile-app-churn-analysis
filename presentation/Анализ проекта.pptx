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embeddedFontLst>
    <p:embeddedFont>
      <p:font typeface="Montserrat"/>
      <p:regular r:id="rId19"/>
      <p:bold r:id="rId20"/>
      <p:italic r:id="rId21"/>
      <p:boldItalic r:id="rId22"/>
    </p:embeddedFont>
    <p:embeddedFont>
      <p:font typeface="Lato"/>
      <p:regular r:id="rId23"/>
      <p:bold r:id="rId24"/>
      <p:italic r:id="rId25"/>
      <p:boldItalic r:id="rId26"/>
    </p:embeddedFont>
    <p:embeddedFont>
      <p:font typeface="Roboto Mono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B831B5D-39E3-4911-B885-35A50F9407B5}">
  <a:tblStyle styleId="{2B831B5D-39E3-4911-B885-35A50F9407B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-bold.fntdata"/><Relationship Id="rId22" Type="http://schemas.openxmlformats.org/officeDocument/2006/relationships/font" Target="fonts/Montserrat-boldItalic.fntdata"/><Relationship Id="rId21" Type="http://schemas.openxmlformats.org/officeDocument/2006/relationships/font" Target="fonts/Montserrat-italic.fntdata"/><Relationship Id="rId24" Type="http://schemas.openxmlformats.org/officeDocument/2006/relationships/font" Target="fonts/Lato-bold.fntdata"/><Relationship Id="rId23" Type="http://schemas.openxmlformats.org/officeDocument/2006/relationships/font" Target="fonts/Lato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Lato-boldItalic.fntdata"/><Relationship Id="rId25" Type="http://schemas.openxmlformats.org/officeDocument/2006/relationships/font" Target="fonts/Lato-italic.fntdata"/><Relationship Id="rId28" Type="http://schemas.openxmlformats.org/officeDocument/2006/relationships/font" Target="fonts/RobotoMono-bold.fntdata"/><Relationship Id="rId27" Type="http://schemas.openxmlformats.org/officeDocument/2006/relationships/font" Target="fonts/RobotoMono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RobotoMono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schemas.openxmlformats.org/officeDocument/2006/relationships/font" Target="fonts/RobotoMono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Montserrat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ru.wiktionary.org/wiki/%D0%B8%20%D1%88%D0%B2%D0%B5%D1%86%2C%20%D0%B8%20%D0%B6%D0%BD%D0%B5%D1%86%2C%20%D0%B8%20%D0%BD%D0%B0%20%D0%B4%D1%83%D0%B4%D0%B5%20%D0%B8%D0%B3%D1%80%D0%B5%D1%86" TargetMode="Externa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c6f9e470d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c6f9e470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Здравствуйте. Я представляю команду №17. Тема проекта — анализ поведения пользователей и прогноз оттока в мобильном приложении ЖКХ. Покажу, какие закономерности нашел в событиях, как сегментировал пользователей по поведению и как построил модель прогноза оттока пользователей. Данные под NDA — поэтому буду показывать  только агрегаты и графики.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900">
                <a:solidFill>
                  <a:srgbClr val="FFFFFF"/>
                </a:solidFill>
                <a:highlight>
                  <a:srgbClr val="222224"/>
                </a:highlight>
                <a:uFill>
                  <a:noFill/>
                </a:u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И швец, и жнец, и на дуде игрец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c6f9e470d_0_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c6f9e470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</a:rPr>
              <a:t>Приложение покрывает ключевые сценарии ЖКХ: платежи, заявки, собрания, новости/чат и взаимодействие с управляющей компанией.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</a:rPr>
              <a:t>Наша цель — выявить паттерны поведения, выделить сегменты пользователей и построить прогноз оттока.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</a:rPr>
              <a:t>Отток мы определяем как </a:t>
            </a:r>
            <a:r>
              <a:rPr b="1" lang="ru">
                <a:solidFill>
                  <a:schemeClr val="dk1"/>
                </a:solidFill>
              </a:rPr>
              <a:t>отсутствие активности/событий больше 30 дней</a:t>
            </a:r>
            <a:r>
              <a:rPr lang="ru">
                <a:solidFill>
                  <a:schemeClr val="dk1"/>
                </a:solidFill>
              </a:rPr>
              <a:t> ( далее буду использовать термин churn_30d).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</a:rPr>
              <a:t>Фокус проекта — исследовательский анализ данных  + сегментация + модель прогноза оттока. NLP не делали из‑за сроков и приоритета EDA.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c6f9e470d_0_24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c6f9e470d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Данные представляют собой логи активностей пользователей. </a:t>
            </a:r>
            <a:r>
              <a:rPr lang="ru"/>
              <a:t>В логах 6.27 млн событий за период 01.09–31.10, всего ~180 тысяч устройств. Устройств на Android ~62%, на iOS ~38%.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Стабильного user_id нет, поэтому пользователь = устройство. То есть не учтено что один пользователь мог использовать приложение с разных устройств.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 препроцессинге я распарсил время, добавили date/hour/weekday.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Собрали session_id как device_id + номер сессии, привели категориальные поля к category.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Отдельно важно: поле “Действие” заполнено примерно в половине событий — это не ошибка, а особенность логирования.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b1262cb19f_0_24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b1262cb19f_0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По динамике по дням видно волнообразные пики и спады. Это может быть связано с платежными циклами, сезонностью или внешними событиями.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По часам — пик в дневные/вечерние часы, ночью почти нет активности, </a:t>
            </a:r>
            <a:r>
              <a:rPr lang="ru"/>
              <a:t>удивительно</a:t>
            </a:r>
            <a:r>
              <a:rPr lang="ru"/>
              <a:t>, правда?)</a:t>
            </a:r>
            <a:br>
              <a:rPr lang="ru"/>
            </a:br>
            <a:r>
              <a:rPr lang="ru"/>
              <a:t>Heatmap показывает различия будни/выходные: в выходные событий меньше. Это полезно для планирования коммуникаций и анализа аномалий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2ea926ca8_0_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2ea926ca8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По экранам видно, что кнопка  “Ещё” — главный хаб навигации, откуда пользователи переходят в ключевые сценарии: “Новая заявка”, “Заявки”, “Мой дом” и т.д.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На пользовательском уровне распределении событий виден “длинный хвост”: много пользователей с очень небольшим числом действий и небольшой сегмент power users.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Это прямо мотивирует сегментацию: средние значения мало что объясняют, нужно делить пользователей на типы поведения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b1262cb19f_0_268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b1262cb19f_0_2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Долю churn  получил около 33% пользователей.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Сравнение распределений показывает: у ушедших в среднем меньше событий, меньше сессий и меньше активных дней.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Также есть различия по ОС: например, у iOS доля churn выше, при этом последний активный экран у активных пользователей различается, а у ушедших нет.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Эти наблюдения легли в основу признаков для модели.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b1262cb19f_0_28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b1262cb19f_0_2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Так же я </a:t>
            </a:r>
            <a:r>
              <a:rPr lang="ru"/>
              <a:t> посмотрел переходы экран→экран внутри сессии. В топе заметно, что “Ещё” выступает центром маршрутов.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Есть повторяющиеся переходы типа “Ещё → Ещё” — это навигационный хаб, из‑за чего он доминирует в логах.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Для UX-гипотезы важно: пользователи с высоким оттоком чуть чаще имеют “назад/возвраты” — это может быть индикатором фрикции и сложности найти нужное действие.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b1262cb19f_0_29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b1262cb19f_0_2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ЗАтем я</a:t>
            </a:r>
            <a:r>
              <a:rPr lang="ru"/>
              <a:t> кластеризовал пользователей по поведенческим агрегатам: активность, интенсивность, разнообразие (экраны/функционалы) и доли использования ключевых экранов.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Провел предобработку дыннх, использовал два разных метода KMeans и DBSCAN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Дальше анализируем профили и отток по кластерам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b1262cb19f_0_30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b1262cb19f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</a:rPr>
              <a:t>Здесь я показал профили кластеров и их связь с оттоком.</a:t>
            </a:r>
            <a:br>
              <a:rPr lang="ru">
                <a:solidFill>
                  <a:schemeClr val="dk1"/>
                </a:solidFill>
              </a:rPr>
            </a:br>
            <a:r>
              <a:rPr lang="ru">
                <a:solidFill>
                  <a:schemeClr val="dk1"/>
                </a:solidFill>
              </a:rPr>
              <a:t> Слева — средние значения ключевых метрик по кластерам: интенсивность событий, количество сессий, активные дни, разнообразие экранов и функционалов.</a:t>
            </a:r>
            <a:br>
              <a:rPr lang="ru">
                <a:solidFill>
                  <a:schemeClr val="dk1"/>
                </a:solidFill>
              </a:rPr>
            </a:br>
            <a:r>
              <a:rPr lang="ru">
                <a:solidFill>
                  <a:schemeClr val="dk1"/>
                </a:solidFill>
              </a:rPr>
              <a:t> Справа — </a:t>
            </a:r>
            <a:r>
              <a:rPr b="1" lang="ru">
                <a:solidFill>
                  <a:schemeClr val="dk1"/>
                </a:solidFill>
              </a:rPr>
              <a:t>размер каждого кластера</a:t>
            </a:r>
            <a:r>
              <a:rPr lang="ru">
                <a:solidFill>
                  <a:schemeClr val="dk1"/>
                </a:solidFill>
              </a:rPr>
              <a:t> и </a:t>
            </a:r>
            <a:r>
              <a:rPr b="1" lang="ru">
                <a:solidFill>
                  <a:schemeClr val="dk1"/>
                </a:solidFill>
              </a:rPr>
              <a:t>доля оттока</a:t>
            </a:r>
            <a:r>
              <a:rPr lang="ru">
                <a:solidFill>
                  <a:schemeClr val="dk1"/>
                </a:solidFill>
              </a:rPr>
              <a:t> внутри него.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</a:rPr>
              <a:t>Мы видим выраженную неоднородность: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ru">
                <a:solidFill>
                  <a:schemeClr val="dk1"/>
                </a:solidFill>
              </a:rPr>
              <a:t>кластеры </a:t>
            </a:r>
            <a:r>
              <a:rPr b="1" lang="ru">
                <a:solidFill>
                  <a:schemeClr val="dk1"/>
                </a:solidFill>
              </a:rPr>
              <a:t>0/3/6</a:t>
            </a:r>
            <a:r>
              <a:rPr lang="ru">
                <a:solidFill>
                  <a:schemeClr val="dk1"/>
                </a:solidFill>
              </a:rPr>
              <a:t> — это сегменты с высоким churn около </a:t>
            </a:r>
            <a:r>
              <a:rPr b="1" lang="ru">
                <a:solidFill>
                  <a:schemeClr val="dk1"/>
                </a:solidFill>
              </a:rPr>
              <a:t>58–60%</a:t>
            </a:r>
            <a:r>
              <a:rPr lang="ru">
                <a:solidFill>
                  <a:schemeClr val="dk1"/>
                </a:solidFill>
              </a:rPr>
              <a:t>, похожие на “одноразовые или краткосрочные сценарии” (мало стабильной активности);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ru">
                <a:solidFill>
                  <a:schemeClr val="dk1"/>
                </a:solidFill>
              </a:rPr>
              <a:t>кластер </a:t>
            </a:r>
            <a:r>
              <a:rPr b="1" lang="ru">
                <a:solidFill>
                  <a:schemeClr val="dk1"/>
                </a:solidFill>
              </a:rPr>
              <a:t>2</a:t>
            </a:r>
            <a:r>
              <a:rPr lang="ru">
                <a:solidFill>
                  <a:schemeClr val="dk1"/>
                </a:solidFill>
              </a:rPr>
              <a:t> — “power users/ядро”: самый низкий churn около </a:t>
            </a:r>
            <a:r>
              <a:rPr b="1" lang="ru">
                <a:solidFill>
                  <a:schemeClr val="dk1"/>
                </a:solidFill>
              </a:rPr>
              <a:t>21%</a:t>
            </a:r>
            <a:r>
              <a:rPr lang="ru">
                <a:solidFill>
                  <a:schemeClr val="dk1"/>
                </a:solidFill>
              </a:rPr>
              <a:t>, высокая интенсивность и широкий функционал;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ru">
                <a:solidFill>
                  <a:schemeClr val="dk1"/>
                </a:solidFill>
              </a:rPr>
              <a:t>кластер </a:t>
            </a:r>
            <a:r>
              <a:rPr b="1" lang="ru">
                <a:solidFill>
                  <a:schemeClr val="dk1"/>
                </a:solidFill>
              </a:rPr>
              <a:t>4</a:t>
            </a:r>
            <a:r>
              <a:rPr lang="ru">
                <a:solidFill>
                  <a:schemeClr val="dk1"/>
                </a:solidFill>
              </a:rPr>
              <a:t> — “рутинные”: средний churn около </a:t>
            </a:r>
            <a:r>
              <a:rPr b="1" lang="ru">
                <a:solidFill>
                  <a:schemeClr val="dk1"/>
                </a:solidFill>
              </a:rPr>
              <a:t>31%</a:t>
            </a:r>
            <a:r>
              <a:rPr lang="ru">
                <a:solidFill>
                  <a:schemeClr val="dk1"/>
                </a:solidFill>
              </a:rPr>
              <a:t>, регулярная активность, но ограниченный набор сценариев.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</a:rPr>
              <a:t>Ключевой вывод: churn сильно зависит от типа поведения, поэтому удержание нужно строить сегментно — на следующих слайдах покажу рекомендации.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b1262cb19f_0_32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b1262cb19f_0_3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</a:rPr>
              <a:t>Я построил модель риска оттока и выбрал CatBoost как основную: по качеству ранжирования пользователей по риску она даёт ROC‑AUC ≈ 0.71.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</a:rPr>
              <a:t>Дальше мы перевели «скор риска» в понятное бизнес‑действие: </a:t>
            </a:r>
            <a:r>
              <a:rPr b="1" lang="ru">
                <a:solidFill>
                  <a:schemeClr val="dk1"/>
                </a:solidFill>
              </a:rPr>
              <a:t>кого считать “в группе риска” и на кого запускать удерживающие коммуникации</a:t>
            </a:r>
            <a:r>
              <a:rPr lang="ru">
                <a:solidFill>
                  <a:schemeClr val="dk1"/>
                </a:solidFill>
              </a:rPr>
              <a:t>. Для этого сравнили несколько правил отсечки (порогов):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ru">
                <a:solidFill>
                  <a:schemeClr val="dk1"/>
                </a:solidFill>
              </a:rPr>
              <a:t>Порог 0.5</a:t>
            </a:r>
            <a:r>
              <a:rPr lang="ru">
                <a:solidFill>
                  <a:schemeClr val="dk1"/>
                </a:solidFill>
              </a:rPr>
              <a:t> — базовый вариант “по умолчанию”.</a:t>
            </a:r>
            <a:br>
              <a:rPr lang="ru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ru">
                <a:solidFill>
                  <a:schemeClr val="dk1"/>
                </a:solidFill>
              </a:rPr>
              <a:t>Единый оптимальный порог по F1 (≈0.37)</a:t>
            </a:r>
            <a:r>
              <a:rPr lang="ru">
                <a:solidFill>
                  <a:schemeClr val="dk1"/>
                </a:solidFill>
              </a:rPr>
              <a:t> — лучше балансирует два типа ошибок:</a:t>
            </a:r>
            <a:br>
              <a:rPr lang="ru">
                <a:solidFill>
                  <a:schemeClr val="dk1"/>
                </a:solidFill>
              </a:rPr>
            </a:br>
            <a:r>
              <a:rPr lang="ru">
                <a:solidFill>
                  <a:schemeClr val="dk1"/>
                </a:solidFill>
              </a:rPr>
              <a:t> не пропускать уходящих (выше recall) и не перегружать коммуникации лишними срабатываниями (precision падает умеренно).</a:t>
            </a:r>
            <a:br>
              <a:rPr lang="ru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ru">
                <a:solidFill>
                  <a:schemeClr val="dk1"/>
                </a:solidFill>
              </a:rPr>
              <a:t>Сегментные пороги</a:t>
            </a:r>
            <a:r>
              <a:rPr lang="ru">
                <a:solidFill>
                  <a:schemeClr val="dk1"/>
                </a:solidFill>
              </a:rPr>
              <a:t> — отдельные пороги для разных поведенческих сегментов (кластеры) и отдельно для “одноразовых” пользователей.</a:t>
            </a:r>
            <a:br>
              <a:rPr lang="ru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</a:rPr>
              <a:t>Результат: </a:t>
            </a:r>
            <a:r>
              <a:rPr b="1" lang="ru">
                <a:solidFill>
                  <a:schemeClr val="dk1"/>
                </a:solidFill>
              </a:rPr>
              <a:t>лучший общий баланс “точность ↔ охват” дал единый порог best‑F1</a:t>
            </a:r>
            <a:r>
              <a:rPr lang="ru">
                <a:solidFill>
                  <a:schemeClr val="dk1"/>
                </a:solidFill>
              </a:rPr>
              <a:t>.</a:t>
            </a:r>
            <a:br>
              <a:rPr lang="ru">
                <a:solidFill>
                  <a:schemeClr val="dk1"/>
                </a:solidFill>
              </a:rPr>
            </a:br>
            <a:r>
              <a:rPr lang="ru">
                <a:solidFill>
                  <a:schemeClr val="dk1"/>
                </a:solidFill>
              </a:rPr>
              <a:t> Сегментные пороги полезны как аналитика (показывают, что в разных сегментах нужен разный подход), но </a:t>
            </a:r>
            <a:r>
              <a:rPr b="1" lang="ru">
                <a:solidFill>
                  <a:schemeClr val="dk1"/>
                </a:solidFill>
              </a:rPr>
              <a:t>как единая стратегия они не улучшают итоговый F1</a:t>
            </a:r>
            <a:r>
              <a:rPr lang="ru">
                <a:solidFill>
                  <a:schemeClr val="dk1"/>
                </a:solidFill>
              </a:rPr>
              <a:t> относительно глобального порога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b1262cb19f_0_33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b1262cb19f_0_3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</a:rPr>
              <a:t>На основе сегментов я сформировал  рекомендации по удержанию и росту вовлечённости.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</a:rPr>
              <a:t>Главный приоритет — сегменты </a:t>
            </a:r>
            <a:r>
              <a:rPr b="1" lang="ru">
                <a:solidFill>
                  <a:schemeClr val="dk1"/>
                </a:solidFill>
              </a:rPr>
              <a:t>0/3/6</a:t>
            </a:r>
            <a:r>
              <a:rPr lang="ru">
                <a:solidFill>
                  <a:schemeClr val="dk1"/>
                </a:solidFill>
              </a:rPr>
              <a:t> с высоким churn: у них 1–2 дня активности, мало экранов и функций.</a:t>
            </a:r>
            <a:br>
              <a:rPr lang="ru">
                <a:solidFill>
                  <a:schemeClr val="dk1"/>
                </a:solidFill>
              </a:rPr>
            </a:br>
            <a:r>
              <a:rPr lang="ru">
                <a:solidFill>
                  <a:schemeClr val="dk1"/>
                </a:solidFill>
              </a:rPr>
              <a:t> Для них важно ускорить “первую ценность”: вынести быстрые кнопки ключевых сценариев на главный экран и в “Ещё”, добавить короткий onboarding из 2–3 подсказок и упростить навигацию — избранное/поиск в “Ещё”. Коммуникации — триггерная цепочка после первого визита.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ru">
                <a:solidFill>
                  <a:schemeClr val="dk1"/>
                </a:solidFill>
              </a:rPr>
              <a:t>Сегмент 1 — “исследователи”: пробуют много функционала, но не закрепляют привычку. Здесь помогает guided tour по одному сценарию и блок “Рекомендовано” — чтобы довести пользователя до завершения полезного действия.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b1262cb19f_0_348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b1262cb19f_0_3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Если бы проект продолжался, я бы усилил его в трёх направлениях.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Первое — data enrichment: подключили бы погодные данные через Yandex Weather API и проверили корреляции “погода ↔ всплески заявок/активности”. Это помогает объяснять пики и потенциально улучшает прогноз.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Второе — моделирование поведения: помимо агрегатов, использовать последовательности действий — HMM/LSTM/Transformer по цепочкам экранов. Это лучше ловит сценарии ухода. Для сегментации можно дополнительно попробовать GMM (Gaussian Mixture Modeling, даёт вероятности принадлежности) и spectral clustering для более сложной геометрии. SVM не является кластеризацией, но его можно использовать после обучения сегментов, чтобы быстро назначать кластер новым пользователям.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Третье — продуктовая валидация: рекомендации нужно подтвердить A/B-тестами на high-risk сегментах 0/3/6. Метрики: retention D7/D30, конверсии в ключевые сценарии и снижение “назад/блужданий”, но здесь нужны дополнительные данные.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Relationship Id="rId4" Type="http://schemas.openxmlformats.org/officeDocument/2006/relationships/image" Target="../media/image8.png"/><Relationship Id="rId5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17.png"/><Relationship Id="rId8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://drive.google.com/file/d/1snpjiKABc5MCOrnHa_VIx8VkP30WSHK6/view" TargetMode="External"/><Relationship Id="rId6" Type="http://schemas.openxmlformats.org/officeDocument/2006/relationships/image" Target="../media/image4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115225"/>
            <a:ext cx="5017500" cy="18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ru" sz="2800"/>
              <a:t>Анализ поведения пользователей и прогноз оттока в мобильном приложении ЖКХ</a:t>
            </a:r>
            <a:endParaRPr sz="2800"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4872225" y="4180025"/>
            <a:ext cx="4206900" cy="9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Команда №17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Феде Василий Васильевич - </a:t>
            </a:r>
            <a:r>
              <a:rPr lang="ru"/>
              <a:t>аналитика/ML/EDA, капитан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Контекст продукта и цель</a:t>
            </a:r>
            <a:endParaRPr/>
          </a:p>
        </p:txBody>
      </p:sp>
      <p:grpSp>
        <p:nvGrpSpPr>
          <p:cNvPr id="141" name="Google Shape;141;p14"/>
          <p:cNvGrpSpPr/>
          <p:nvPr/>
        </p:nvGrpSpPr>
        <p:grpSpPr>
          <a:xfrm>
            <a:off x="431925" y="1304875"/>
            <a:ext cx="2628925" cy="3416400"/>
            <a:chOff x="431925" y="1304875"/>
            <a:chExt cx="2628925" cy="3416400"/>
          </a:xfrm>
        </p:grpSpPr>
        <p:sp>
          <p:nvSpPr>
            <p:cNvPr id="142" name="Google Shape;142;p14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14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4" name="Google Shape;144;p14"/>
          <p:cNvSpPr txBox="1"/>
          <p:nvPr>
            <p:ph idx="4294967295" type="body"/>
          </p:nvPr>
        </p:nvSpPr>
        <p:spPr>
          <a:xfrm>
            <a:off x="508325" y="1483675"/>
            <a:ext cx="8132700" cy="316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2258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ru" sz="1600"/>
              <a:t>Приложение: платежи, заявки, собрания, новости/чат, взаимодействие с УК</a:t>
            </a:r>
            <a:endParaRPr sz="1600"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22580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ru" sz="1600"/>
              <a:t>Бизнес-цель: увеличить охват и регулярное использование сервиса жильцами → выше эффективность использования городского бюджета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22580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ru" sz="1600"/>
              <a:t>Аналитическая цель: выявить паттерны поведения, сегменты пользователей, прогнозировать отток пользователей ( нет активности &gt; 30 дней -&gt; churn_30d)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-322580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ru" sz="1600"/>
              <a:t>Фокус проекта: EDA + сегментация + churn-модель </a:t>
            </a:r>
            <a:endParaRPr sz="1600"/>
          </a:p>
        </p:txBody>
      </p:sp>
      <p:pic>
        <p:nvPicPr>
          <p:cNvPr id="145" name="Google Shape;145;p14"/>
          <p:cNvPicPr preferRelativeResize="0"/>
          <p:nvPr/>
        </p:nvPicPr>
        <p:blipFill>
          <a:blip r:embed="rId3">
            <a:alphaModFix amt="78000"/>
          </a:blip>
          <a:stretch>
            <a:fillRect/>
          </a:stretch>
        </p:blipFill>
        <p:spPr>
          <a:xfrm>
            <a:off x="5586475" y="4060100"/>
            <a:ext cx="3118951" cy="996725"/>
          </a:xfrm>
          <a:prstGeom prst="rect">
            <a:avLst/>
          </a:prstGeom>
          <a:noFill/>
          <a:ln>
            <a:noFill/>
          </a:ln>
          <a:effectLst>
            <a:outerShdw blurRad="814388" rotWithShape="0" algn="bl" dir="11400000" dist="647700">
              <a:srgbClr val="000000">
                <a:alpha val="23000"/>
              </a:srgbClr>
            </a:outerShdw>
          </a:effectLst>
        </p:spPr>
      </p:pic>
      <p:sp>
        <p:nvSpPr>
          <p:cNvPr id="146" name="Google Shape;146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Данные + Preprocessing</a:t>
            </a:r>
            <a:endParaRPr/>
          </a:p>
        </p:txBody>
      </p:sp>
      <p:sp>
        <p:nvSpPr>
          <p:cNvPr id="152" name="Google Shape;152;p15"/>
          <p:cNvSpPr txBox="1"/>
          <p:nvPr>
            <p:ph idx="4294967295" type="body"/>
          </p:nvPr>
        </p:nvSpPr>
        <p:spPr>
          <a:xfrm>
            <a:off x="404700" y="1441775"/>
            <a:ext cx="3846300" cy="200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ru" sz="1100"/>
              <a:t>событий: 6.27 млн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ru" sz="1100"/>
              <a:t>устройств: 179 976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ru" sz="1100"/>
              <a:t>период: 2025-09-01 — 2025-10-31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ru" sz="1100"/>
              <a:t>ОС: Android ~62%, iOS ~38%</a:t>
            </a:r>
            <a:endParaRPr b="1" sz="11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-298450" lvl="0" marL="457200" rtl="0" algn="l">
              <a:spcBef>
                <a:spcPts val="800"/>
              </a:spcBef>
              <a:spcAft>
                <a:spcPts val="0"/>
              </a:spcAft>
              <a:buSzPts val="1100"/>
              <a:buChar char="●"/>
            </a:pPr>
            <a:r>
              <a:rPr lang="ru" sz="1100">
                <a:latin typeface="Roboto Mono"/>
                <a:ea typeface="Roboto Mono"/>
                <a:cs typeface="Roboto Mono"/>
                <a:sym typeface="Roboto Mono"/>
              </a:rPr>
              <a:t>churn</a:t>
            </a:r>
            <a:r>
              <a:rPr lang="ru" sz="1100"/>
              <a:t> = нет событий &gt; 30 дней</a:t>
            </a:r>
            <a:endParaRPr sz="1600"/>
          </a:p>
        </p:txBody>
      </p:sp>
      <p:sp>
        <p:nvSpPr>
          <p:cNvPr id="153" name="Google Shape;153;p15"/>
          <p:cNvSpPr txBox="1"/>
          <p:nvPr>
            <p:ph idx="4294967295" type="body"/>
          </p:nvPr>
        </p:nvSpPr>
        <p:spPr>
          <a:xfrm>
            <a:off x="4490100" y="1441775"/>
            <a:ext cx="3846300" cy="15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ru" sz="1100"/>
              <a:t>Удалены дубликаты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ru" sz="1100"/>
              <a:t>Обработка временных типов данных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ru" sz="1100">
                <a:latin typeface="Roboto Mono"/>
                <a:ea typeface="Roboto Mono"/>
                <a:cs typeface="Roboto Mono"/>
                <a:sym typeface="Roboto Mono"/>
              </a:rPr>
              <a:t>session_id</a:t>
            </a:r>
            <a:r>
              <a:rPr lang="ru" sz="1100">
                <a:latin typeface="Arial"/>
                <a:ea typeface="Arial"/>
                <a:cs typeface="Arial"/>
                <a:sym typeface="Arial"/>
              </a:rPr>
              <a:t> = device_id + session_number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ru" sz="1100"/>
              <a:t>Категории приведены к типу</a:t>
            </a:r>
            <a:r>
              <a:rPr lang="ru" sz="110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" sz="1100">
                <a:latin typeface="Roboto Mono"/>
                <a:ea typeface="Roboto Mono"/>
                <a:cs typeface="Roboto Mono"/>
                <a:sym typeface="Roboto Mono"/>
              </a:rPr>
              <a:t>category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ru" sz="1100"/>
              <a:t>Работа с пропусками: “Действие” ~52% (не для всех событий фиксируется)</a:t>
            </a:r>
            <a:endParaRPr sz="1100"/>
          </a:p>
        </p:txBody>
      </p:sp>
      <p:sp>
        <p:nvSpPr>
          <p:cNvPr id="154" name="Google Shape;154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Активность по дням, часам и по неделе</a:t>
            </a:r>
            <a:endParaRPr/>
          </a:p>
        </p:txBody>
      </p:sp>
      <p:pic>
        <p:nvPicPr>
          <p:cNvPr id="160" name="Google Shape;16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0" y="3012395"/>
            <a:ext cx="3089974" cy="20444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87475" y="3012395"/>
            <a:ext cx="3089974" cy="20405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14975" y="1011150"/>
            <a:ext cx="5070624" cy="178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6"/>
          <p:cNvSpPr txBox="1"/>
          <p:nvPr/>
        </p:nvSpPr>
        <p:spPr>
          <a:xfrm>
            <a:off x="153975" y="1185100"/>
            <a:ext cx="3706500" cy="18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Видны пики/спады активности по датам</a:t>
            </a:r>
            <a:b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Возможные причины: платежные циклы, сезонность, внешние события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Пик активности в дневные/вечерние часы</a:t>
            </a:r>
            <a:b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В выходные событий меньше, чем в будни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Полезная информация для </a:t>
            </a: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коммуникации</a:t>
            </a: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с пользователями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4" name="Google Shape;1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User-level </a:t>
            </a:r>
            <a:endParaRPr/>
          </a:p>
        </p:txBody>
      </p:sp>
      <p:pic>
        <p:nvPicPr>
          <p:cNvPr id="170" name="Google Shape;17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34225" y="982525"/>
            <a:ext cx="4090524" cy="270129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7"/>
          <p:cNvSpPr txBox="1"/>
          <p:nvPr/>
        </p:nvSpPr>
        <p:spPr>
          <a:xfrm>
            <a:off x="1943288" y="3929250"/>
            <a:ext cx="4548900" cy="8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Сильная неоднородность: много пользователей с малым числом событий</a:t>
            </a:r>
            <a:b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Небольшой сегмент “power users” генерирует много действий</a:t>
            </a:r>
            <a:b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Это мотивирует сегментацию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2" name="Google Shape;172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Churn definition + базовые различия</a:t>
            </a:r>
            <a:endParaRPr/>
          </a:p>
        </p:txBody>
      </p:sp>
      <p:sp>
        <p:nvSpPr>
          <p:cNvPr id="178" name="Google Shape;178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179" name="Google Shape;17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058" y="2982390"/>
            <a:ext cx="2242040" cy="5777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2048" y="3876435"/>
            <a:ext cx="2144823" cy="5777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42281" y="1993878"/>
            <a:ext cx="2961641" cy="14462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42286" y="3440125"/>
            <a:ext cx="2961639" cy="144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374100" y="1993875"/>
            <a:ext cx="2961625" cy="14493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374100" y="3443203"/>
            <a:ext cx="2961644" cy="144931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8"/>
          <p:cNvSpPr txBox="1"/>
          <p:nvPr/>
        </p:nvSpPr>
        <p:spPr>
          <a:xfrm>
            <a:off x="1057475" y="1189100"/>
            <a:ext cx="7778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Гипотеза: поведение активных пользователя для iOS и Android отличается значительно, а ушедших - нет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Customer Journey</a:t>
            </a:r>
            <a:endParaRPr/>
          </a:p>
        </p:txBody>
      </p:sp>
      <p:sp>
        <p:nvSpPr>
          <p:cNvPr id="191" name="Google Shape;191;p19"/>
          <p:cNvSpPr txBox="1"/>
          <p:nvPr/>
        </p:nvSpPr>
        <p:spPr>
          <a:xfrm>
            <a:off x="200800" y="3648575"/>
            <a:ext cx="4830300" cy="9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“Ещё” — центр маршрутов</a:t>
            </a:r>
            <a:b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Частые сценарии: “Ещё → Новая заявка / Заявки …”</a:t>
            </a:r>
            <a:b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Гипотеза: часть пользователей “блуждает” (доля “назад” выше у churn)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92" name="Google Shape;19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800" y="1307850"/>
            <a:ext cx="3770301" cy="223662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194" name="Google Shape;194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99204" y="1220412"/>
            <a:ext cx="4893046" cy="241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Кластеризация: метод и выбор</a:t>
            </a:r>
            <a:endParaRPr/>
          </a:p>
        </p:txBody>
      </p:sp>
      <p:pic>
        <p:nvPicPr>
          <p:cNvPr id="200" name="Google Shape;20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6450" y="1055050"/>
            <a:ext cx="2714325" cy="196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6450" y="3015203"/>
            <a:ext cx="2714317" cy="2009092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0"/>
          <p:cNvSpPr txBox="1"/>
          <p:nvPr/>
        </p:nvSpPr>
        <p:spPr>
          <a:xfrm>
            <a:off x="4105725" y="3413125"/>
            <a:ext cx="4837500" cy="16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Фичи: активность, интенсивность, разнообразие + доли screen_*</a:t>
            </a:r>
            <a:b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Preprocessing: log1p + scaler + PCA</a:t>
            </a:r>
            <a:b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KMeans выбран как основной: интерпретируемые сегменты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Сегменты различимы в сжатом пространстве</a:t>
            </a:r>
            <a:b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Дальше анализируем профили и churn по кластерам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203" name="Google Shape;203;p20"/>
          <p:cNvCxnSpPr/>
          <p:nvPr/>
        </p:nvCxnSpPr>
        <p:spPr>
          <a:xfrm flipH="1" rot="10800000">
            <a:off x="3808576" y="2386500"/>
            <a:ext cx="1235400" cy="618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4" name="Google Shape;204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205" name="Google Shape;205;p20" title="kmeans_pca3d_rotate.mp4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125825" y="934787"/>
            <a:ext cx="3210575" cy="24783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Профили кластеров + churn rate</a:t>
            </a:r>
            <a:endParaRPr/>
          </a:p>
        </p:txBody>
      </p:sp>
      <p:sp>
        <p:nvSpPr>
          <p:cNvPr id="211" name="Google Shape;211;p21"/>
          <p:cNvSpPr txBox="1"/>
          <p:nvPr/>
        </p:nvSpPr>
        <p:spPr>
          <a:xfrm>
            <a:off x="297000" y="3730850"/>
            <a:ext cx="8550000" cy="10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Кластеры 0/3/6: высокий churn (~58–60%) → “одноразовые/краткосрочные сценарии”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Кластер 2: низкий churn (~21%) → “power users”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Кластер 4: “рутинные” → средний churn (~31%)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Сегменты дают основу для персонализации: разные меры удержания для разных групп.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12" name="Google Shape;21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00" y="1216074"/>
            <a:ext cx="4496181" cy="2411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93200" y="1216075"/>
            <a:ext cx="3906000" cy="2411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1"/>
          <p:cNvSpPr txBox="1"/>
          <p:nvPr/>
        </p:nvSpPr>
        <p:spPr>
          <a:xfrm>
            <a:off x="6087000" y="3993675"/>
            <a:ext cx="2812200" cy="10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0/3/6 — “одноразовые”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2 — “ядро/power”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4 — “рутинные”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5 — малый сегмент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15" name="Google Shape;21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Churn-модель + пороги</a:t>
            </a:r>
            <a:endParaRPr/>
          </a:p>
        </p:txBody>
      </p:sp>
      <p:sp>
        <p:nvSpPr>
          <p:cNvPr id="221" name="Google Shape;221;p22"/>
          <p:cNvSpPr txBox="1"/>
          <p:nvPr/>
        </p:nvSpPr>
        <p:spPr>
          <a:xfrm>
            <a:off x="152400" y="3543825"/>
            <a:ext cx="8550000" cy="10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CatBoost: ROC-AUC ~0.71</a:t>
            </a:r>
            <a:b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Порог 0.5 не оптимален → best-F1 порог улучшает F1 и recall</a:t>
            </a:r>
            <a:b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</a:b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Сегментные пороги полезны для анализа, но не дают лучшего F1, чем global best-F1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22" name="Google Shape;22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60250"/>
            <a:ext cx="8839199" cy="1090914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Рекомендации</a:t>
            </a:r>
            <a:endParaRPr/>
          </a:p>
        </p:txBody>
      </p:sp>
      <p:graphicFrame>
        <p:nvGraphicFramePr>
          <p:cNvPr id="229" name="Google Shape;229;p23"/>
          <p:cNvGraphicFramePr/>
          <p:nvPr/>
        </p:nvGraphicFramePr>
        <p:xfrm>
          <a:off x="33338" y="1464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{2B831B5D-39E3-4911-B885-35A50F9407B5}</a:tableStyleId>
              </a:tblPr>
              <a:tblGrid>
                <a:gridCol w="1177625"/>
                <a:gridCol w="1460100"/>
                <a:gridCol w="2966975"/>
                <a:gridCol w="1531050"/>
                <a:gridCol w="1549275"/>
              </a:tblGrid>
              <a:tr h="6333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Сегмент (кластеры)</a:t>
                      </a:r>
                      <a:endParaRPr b="1"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Сигнал/проблема</a:t>
                      </a:r>
                      <a:endParaRPr b="1"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Что сделать в продукте</a:t>
                      </a:r>
                      <a:endParaRPr b="1"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Коммуникации</a:t>
                      </a:r>
                      <a:endParaRPr b="1"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Как измерить эффект</a:t>
                      </a:r>
                      <a:endParaRPr b="1"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19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Высокий риск: 0 / 3 / 6</a:t>
                      </a:r>
                      <a:r>
                        <a:rPr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(“одноразовые / краткосрочные”)</a:t>
                      </a:r>
                      <a:endParaRPr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1–2 дня активности, мало экранов/функций, высокий churn</a:t>
                      </a:r>
                      <a:endParaRPr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1) Ускорить “первую ценность”: быстрые кнопки </a:t>
                      </a:r>
                      <a:r>
                        <a:rPr b="1"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«Создать заявку» / «Мои платежи» / «Мой дом»</a:t>
                      </a:r>
                      <a:r>
                        <a:rPr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на главном экране и в “Ещё” 2) Onboarding: 2–3 подсказки по ключевым сценариям 3) Упростить меню “Ещё”: избранное/поиск</a:t>
                      </a:r>
                      <a:endParaRPr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Триггерная цепочка после 1-го визита: D+1 и D+3 (подсказка + “что полезно”)</a:t>
                      </a:r>
                      <a:endParaRPr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Retention D7/D30, конверсия в ключевой сценарий (заявка/платёж), снижение доли “назад”</a:t>
                      </a:r>
                      <a:endParaRPr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01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Кластер 1</a:t>
                      </a:r>
                      <a:r>
                        <a:rPr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(“исследователи”)</a:t>
                      </a:r>
                      <a:endParaRPr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Много функционалов за короткое время, но churn высокий</a:t>
                      </a:r>
                      <a:endParaRPr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“Guided tour” по 1–2 сценариям (например, </a:t>
                      </a:r>
                      <a:r>
                        <a:rPr b="1"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заявка → статус → уведомления</a:t>
                      </a:r>
                      <a:r>
                        <a:rPr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) + блок “Рекомендовано” по действиям пользователя</a:t>
                      </a:r>
                      <a:endParaRPr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Push/ин-app: “Продолжить сценарий” + подсказки по статусам/уведомлениям</a:t>
                      </a:r>
                      <a:endParaRPr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0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Рост доли пользователей, завершивших сценарий; Retention D30</a:t>
                      </a:r>
                      <a:endParaRPr sz="10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30" name="Google Shape;23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Discussion / Next steps</a:t>
            </a:r>
            <a:endParaRPr/>
          </a:p>
        </p:txBody>
      </p:sp>
      <p:sp>
        <p:nvSpPr>
          <p:cNvPr id="236" name="Google Shape;236;p24"/>
          <p:cNvSpPr txBox="1"/>
          <p:nvPr/>
        </p:nvSpPr>
        <p:spPr>
          <a:xfrm>
            <a:off x="255575" y="1367800"/>
            <a:ext cx="8550000" cy="308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ru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Блок 1 — Data enrichment </a:t>
            </a:r>
            <a:endParaRPr b="1"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ru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Yandex Weather API</a:t>
            </a:r>
            <a:r>
              <a:rPr lang="ru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: добавить погодные фичи (осадки/снег/температура/ветер) по дням</a:t>
            </a:r>
            <a:endParaRPr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"/>
              <a:buChar char="●"/>
            </a:pPr>
            <a:r>
              <a:rPr lang="ru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Проверить корреляции “погода ↔ заявки/обращения/всплески активности”</a:t>
            </a:r>
            <a:endParaRPr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ru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Блок 2 — Modeling </a:t>
            </a:r>
            <a:endParaRPr b="1"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ru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Последовательности действий (HMM / LSTM / Transformer)</a:t>
            </a:r>
            <a:r>
              <a:rPr lang="ru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: не только агрегаты, а “как пользователь ходит по экраном” → лучше ловит сценарии ухода</a:t>
            </a:r>
            <a:endParaRPr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ru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GMM (Gaussian Mixture Models)</a:t>
            </a:r>
            <a:r>
              <a:rPr lang="ru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дас вероятности принадлежности к сегментам</a:t>
            </a:r>
            <a:endParaRPr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ru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Spectral clustering</a:t>
            </a:r>
            <a:endParaRPr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ru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SVM</a:t>
            </a:r>
            <a:r>
              <a:rPr lang="ru" sz="12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— не кластеризация, но может служить классификатором для назначения сегмента новым пользователям.</a:t>
            </a:r>
            <a:endParaRPr b="1" sz="12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37" name="Google Shape;237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